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11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11111"/>
                </a:solidFill>
                <a:latin typeface="Calibri"/>
              </a:rPr>
              <a:t>Revenue Share: Footwear vs. Apparel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F135"/>
              </a:solidFill>
              <a:effectLst/>
            </c:spPr>
          </c:dPt>
          <c:dPt>
            <c:idx val="1"/>
            <c:bubble3D val="0"/>
            <c:spPr>
              <a:solidFill>
                <a:srgbClr val="E4E4E1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11111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11111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Footwear</c:v>
                </c:pt>
                <c:pt idx="1">
                  <c:v>Apparel &amp; Accessories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58-EB42-B5F7-009285C4D1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11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11111"/>
                </a:solidFill>
                <a:latin typeface="Calibri"/>
              </a:rPr>
              <a:t>Share of Total Sales by Retailer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Sales</c:v>
                </c:pt>
              </c:strCache>
            </c:strRef>
          </c:tx>
          <c:spPr>
            <a:solidFill>
              <a:srgbClr val="C6F135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9DC42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E4E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463B"/>
              </a:solidFill>
              <a:effectLst/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 Gear</c:v>
                </c:pt>
                <c:pt idx="1">
                  <c:v>Foot Locker</c:v>
                </c:pt>
                <c:pt idx="2">
                  <c:v>All Other Retailers</c:v>
                </c:pt>
                <c:pt idx="3">
                  <c:v>Walmart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24.5</c:v>
                </c:pt>
                <c:pt idx="2">
                  <c:v>40.200000000000003</c:v>
                </c:pt>
                <c:pt idx="3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01-4B4C-A869-EF9D28BCC5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11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11111"/>
                </a:solidFill>
                <a:latin typeface="Calibri"/>
              </a:rPr>
              <a:t>Share of Total Sales by Region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Sales</c:v>
                </c:pt>
              </c:strCache>
            </c:strRef>
          </c:tx>
          <c:spPr>
            <a:solidFill>
              <a:srgbClr val="C6F135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E4E4E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463B"/>
              </a:solidFill>
              <a:effectLst/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West</c:v>
                </c:pt>
                <c:pt idx="1">
                  <c:v>All Other Regions</c:v>
                </c:pt>
                <c:pt idx="2">
                  <c:v>Midwest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54.9</c:v>
                </c:pt>
                <c:pt idx="2">
                  <c:v>15.1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FC-5A44-A2C7-FB2D5E7093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11111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11111"/>
                </a:solidFill>
                <a:latin typeface="Calibri"/>
              </a:rPr>
              <a:t>Total Sales by Year ($M, est. from stated YoY growth)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($M)</c:v>
                </c:pt>
              </c:strCache>
            </c:strRef>
          </c:tx>
          <c:spPr>
            <a:solidFill>
              <a:srgbClr val="E4E4E1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C6F135"/>
              </a:solidFill>
              <a:effectLst/>
            </c:spPr>
          </c:dPt>
          <c:dLbls>
            <c:numFmt formatCode="&quot;$&quot;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2020</c:v>
                </c:pt>
                <c:pt idx="1">
                  <c:v>2021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182.2</c:v>
                </c:pt>
                <c:pt idx="1">
                  <c:v>717.7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DE-004B-8D16-186ABEAE4F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11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4BAB0-E51E-E945-AC42-DCC05F3C9EC1}" type="datetimeFigureOut">
              <a:rPr lang="en-US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87234-BD5D-6141-A976-B654FBD7490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58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0"/>
            <a:ext cx="54864" cy="6858000"/>
          </a:xfrm>
          <a:prstGeom prst="rect">
            <a:avLst/>
          </a:prstGeom>
          <a:solidFill>
            <a:srgbClr val="C6F1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FY2020–2021 EXECUTIVE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5146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Sales &amp; Performance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21792" y="4343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view across retailers, regions, channels, and product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— prepared for Adidas executive leadership.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5989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9,648-ROW DATASET  •  6 RETAILERS  •  5 REGIONS  •  6 CATEGORIES  •  3 CHANNELS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00684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6F1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$899.9M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006840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– DEC 2021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DC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Years of Growth,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full FY2020–2021 dataset, Adidas generated nearly $900M in sales with a strong 42.3% average margin — evidence of a healthy, profitable base to build the next phase of growth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2606040" cy="82296"/>
          </a:xfrm>
          <a:prstGeom prst="rect">
            <a:avLst/>
          </a:prstGeom>
          <a:solidFill>
            <a:srgbClr val="C6F1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91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6F1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$899.9M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2331720"/>
            <a:ext cx="2606040" cy="3017520"/>
          </a:xfrm>
          <a:prstGeom prst="rect">
            <a:avLst/>
          </a:prstGeom>
          <a:solidFill>
            <a:srgbClr val="F4F4F2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2331720"/>
            <a:ext cx="2606040" cy="82296"/>
          </a:xfrm>
          <a:prstGeom prst="rect">
            <a:avLst/>
          </a:prstGeom>
          <a:solidFill>
            <a:srgbClr val="C6F135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3291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$332.1M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10712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2784" y="2331720"/>
            <a:ext cx="2606040" cy="3017520"/>
          </a:xfrm>
          <a:prstGeom prst="rect">
            <a:avLst/>
          </a:prstGeom>
          <a:solidFill>
            <a:srgbClr val="F4F4F2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2331720"/>
            <a:ext cx="2606040" cy="82296"/>
          </a:xfrm>
          <a:prstGeom prst="rect">
            <a:avLst/>
          </a:prstGeom>
          <a:solidFill>
            <a:srgbClr val="C6F135"/>
          </a:solidFill>
          <a:ln/>
        </p:spPr>
      </p:sp>
      <p:sp>
        <p:nvSpPr>
          <p:cNvPr id="15" name="Text 13"/>
          <p:cNvSpPr/>
          <p:nvPr/>
        </p:nvSpPr>
        <p:spPr>
          <a:xfrm>
            <a:off x="6272784" y="3291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42.3%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72784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MARGIN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34856" y="2331720"/>
            <a:ext cx="2606040" cy="3017520"/>
          </a:xfrm>
          <a:prstGeom prst="rect">
            <a:avLst/>
          </a:prstGeom>
          <a:solidFill>
            <a:srgbClr val="F4F4F2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4856" y="2331720"/>
            <a:ext cx="2606040" cy="82296"/>
          </a:xfrm>
          <a:prstGeom prst="rect">
            <a:avLst/>
          </a:prstGeom>
          <a:solidFill>
            <a:srgbClr val="C6F135"/>
          </a:solidFill>
          <a:ln/>
        </p:spPr>
      </p:sp>
      <p:sp>
        <p:nvSpPr>
          <p:cNvPr id="19" name="Text 17"/>
          <p:cNvSpPr/>
          <p:nvPr/>
        </p:nvSpPr>
        <p:spPr>
          <a:xfrm>
            <a:off x="9134856" y="3291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2.48M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34856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DC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drives roughly two-thirds of all revenue — see Product Performance.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 |  SALES &amp; PERFORMANCE ANALYSIS  —  FY2020–2021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DC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Footwear Is the Growth Engine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5029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554480"/>
            <a:ext cx="5669280" cy="1417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0" y="2011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$208.8M revenue  •  23.2% of total sales  •  44.6% margin (best-in-class)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0" y="324612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leading product line by revenue and by margin — a clear signal for continued investment and shelf priority.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overall accounts for ~66% of total revenue, roughly double Apparel &amp; Accessories.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margin strength suggests footwear should anchor future product launches and marketing spend.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 |  SALES &amp; PERFORMANCE ANALYSIS  —  FY2020–2021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DC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Retailers Drive Over Half of Sales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4008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554480"/>
            <a:ext cx="4343400" cy="1234440"/>
          </a:xfrm>
          <a:prstGeom prst="rect">
            <a:avLst/>
          </a:prstGeom>
          <a:solidFill>
            <a:srgbClr val="F4F4F2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69480" y="1554480"/>
            <a:ext cx="73152" cy="1234440"/>
          </a:xfrm>
          <a:prstGeom prst="rect">
            <a:avLst/>
          </a:prstGeom>
          <a:solidFill>
            <a:srgbClr val="C6F135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6642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27% + 24.5%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543800" y="217627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Gear and Foot Locker combined = over half of all sales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269480" y="2971800"/>
            <a:ext cx="4343400" cy="1234440"/>
          </a:xfrm>
          <a:prstGeom prst="rect">
            <a:avLst/>
          </a:prstGeom>
          <a:solidFill>
            <a:srgbClr val="F4F4F2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69480" y="2971800"/>
            <a:ext cx="73152" cy="1234440"/>
          </a:xfrm>
          <a:prstGeom prst="rect">
            <a:avLst/>
          </a:prstGeom>
          <a:solidFill>
            <a:srgbClr val="C6F135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30815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45.6% margin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543800" y="359359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Direct posts the best margin of any retailer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69480" y="4389120"/>
            <a:ext cx="4343400" cy="1234440"/>
          </a:xfrm>
          <a:prstGeom prst="rect">
            <a:avLst/>
          </a:prstGeom>
          <a:solidFill>
            <a:srgbClr val="F4F4F2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69480" y="4389120"/>
            <a:ext cx="73152" cy="1234440"/>
          </a:xfrm>
          <a:prstGeom prst="rect">
            <a:avLst/>
          </a:prstGeom>
          <a:solidFill>
            <a:srgbClr val="C6F135"/>
          </a:solidFill>
          <a:ln/>
        </p:spPr>
      </p:sp>
      <p:sp>
        <p:nvSpPr>
          <p:cNvPr id="15" name="Text 12"/>
          <p:cNvSpPr/>
          <p:nvPr/>
        </p:nvSpPr>
        <p:spPr>
          <a:xfrm>
            <a:off x="7543800" y="44988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8.3% share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543800" y="501091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is the weakest-performing retailer by revenue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 |  SALES &amp; PERFORMANCE ANALYSIS  —  FY2020–2021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DC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West Leads; Midwest Lags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400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12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Other Regions” combines Northeast, South, and Southwest.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269480" y="1554480"/>
            <a:ext cx="4343400" cy="17373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7373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STATES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43800" y="20574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NY  •  CA  •  FL  •  TX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543800" y="26060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four states account for roughly 25% of total sales.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69480" y="3611880"/>
            <a:ext cx="4343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region alone generates 30% of total sales — the strongest single region.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trails all regions at 15.1%, flagging a clear opportunity for targeted regional investment.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 |  SALES &amp; PERFORMANCE ANALYSIS  —  FY2020–2021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DC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Online Is Punching Above Its Weight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still leads on raw revenue, but Online converts more efficiently — the best margin in the business and the highest unit volume of any channel. That combination is a real signal to shift investment.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291840"/>
          </a:xfrm>
          <a:prstGeom prst="rect">
            <a:avLst/>
          </a:prstGeom>
          <a:solidFill>
            <a:srgbClr val="F4F4F2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51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39.6%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Revenue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all channels on raw revenue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520440" cy="3291840"/>
          </a:xfrm>
          <a:prstGeom prst="rect">
            <a:avLst/>
          </a:prstGeom>
          <a:solidFill>
            <a:srgbClr val="111111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331720"/>
            <a:ext cx="3520440" cy="82296"/>
          </a:xfrm>
          <a:prstGeom prst="rect">
            <a:avLst/>
          </a:prstGeom>
          <a:solidFill>
            <a:srgbClr val="C6F135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651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43400" y="31089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6F1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46%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343400" y="4160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(Best in Class)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4663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the highest unit volume of any channel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331720"/>
            <a:ext cx="3520440" cy="3291840"/>
          </a:xfrm>
          <a:prstGeom prst="rect">
            <a:avLst/>
          </a:prstGeom>
          <a:solidFill>
            <a:srgbClr val="F4F4F2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651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31089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—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8138160" y="4160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Sales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66760" y="4663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up the remaining revenue share not shown above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 |  SALES &amp; PERFORMANCE ANALYSIS  —  FY2020–2021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DC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Sales Nearly Quadrupled Year Over Year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1264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554480"/>
            <a:ext cx="4572000" cy="1554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691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6F1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+294%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GROWTH, 2020 → 2021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40880" y="33832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accelerated through 2021, peaking in Q3.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slight Q4 dip followed the Q3 peak — worth watching heading into next year's forecast.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this rebound should directly inform demand planning and inventory build for the next cycle.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 |  SALES &amp; PERFORMANCE ANALYSIS  —  FY2020–2021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DC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Priorities for Leadership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39696" cy="4206240"/>
          </a:xfrm>
          <a:prstGeom prst="rect">
            <a:avLst/>
          </a:prstGeom>
          <a:solidFill>
            <a:srgbClr val="F4F4F2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C4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1773936" cy="0"/>
          </a:xfrm>
          <a:prstGeom prst="line">
            <a:avLst/>
          </a:prstGeom>
          <a:noFill/>
          <a:ln w="12700">
            <a:solidFill>
              <a:srgbClr val="E4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474720"/>
            <a:ext cx="1773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Men's Street Footwear and the broader footwear line — the clear leader on revenue and margin.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52928" y="1600200"/>
            <a:ext cx="2139696" cy="4206240"/>
          </a:xfrm>
          <a:prstGeom prst="rect">
            <a:avLst/>
          </a:prstGeom>
          <a:solidFill>
            <a:srgbClr val="F4F4F2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5808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C4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035808" y="246888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Optimization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35808" y="3291840"/>
            <a:ext cx="1773936" cy="0"/>
          </a:xfrm>
          <a:prstGeom prst="line">
            <a:avLst/>
          </a:prstGeom>
          <a:noFill/>
          <a:ln w="12700">
            <a:solidFill>
              <a:srgbClr val="E4E4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3474720"/>
            <a:ext cx="1773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incremental investment toward Online, where margin and unit volume both outperform.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57216" y="1600200"/>
            <a:ext cx="2139696" cy="4206240"/>
          </a:xfrm>
          <a:prstGeom prst="rect">
            <a:avLst/>
          </a:prstGeom>
          <a:solidFill>
            <a:srgbClr val="F4F4F2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0096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C4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340096" y="246888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Focus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40096" y="3291840"/>
            <a:ext cx="1773936" cy="0"/>
          </a:xfrm>
          <a:prstGeom prst="line">
            <a:avLst/>
          </a:prstGeom>
          <a:noFill/>
          <a:ln w="12700">
            <a:solidFill>
              <a:srgbClr val="E4E4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0096" y="3474720"/>
            <a:ext cx="1773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the West's lead while building a targeted plan to close the gap in the Midwest.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61504" y="1600200"/>
            <a:ext cx="2139696" cy="4206240"/>
          </a:xfrm>
          <a:prstGeom prst="rect">
            <a:avLst/>
          </a:prstGeom>
          <a:solidFill>
            <a:srgbClr val="F4F4F2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44384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C4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644384" y="246888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44384" y="3291840"/>
            <a:ext cx="1773936" cy="0"/>
          </a:xfrm>
          <a:prstGeom prst="line">
            <a:avLst/>
          </a:prstGeom>
          <a:noFill/>
          <a:ln w="12700">
            <a:solidFill>
              <a:srgbClr val="E4E4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44384" y="3474720"/>
            <a:ext cx="1773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inventory and staffing around the Q3 peak and the following Q4 softening.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65792" y="1600200"/>
            <a:ext cx="2139696" cy="4206240"/>
          </a:xfrm>
          <a:prstGeom prst="rect">
            <a:avLst/>
          </a:prstGeom>
          <a:solidFill>
            <a:srgbClr val="F4F4F2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48672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C4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948672" y="246888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Management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948672" y="3291840"/>
            <a:ext cx="1773936" cy="0"/>
          </a:xfrm>
          <a:prstGeom prst="line">
            <a:avLst/>
          </a:prstGeom>
          <a:noFill/>
          <a:ln w="12700">
            <a:solidFill>
              <a:srgbClr val="E4E4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48672" y="3474720"/>
            <a:ext cx="1773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partnerships with West Gear and Foot Locker; address underperformance at Walmart.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 |  SALES &amp; PERFORMANCE ANALYSIS  —  FY2020–2021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88952" cy="54864"/>
          </a:xfrm>
          <a:prstGeom prst="rect">
            <a:avLst/>
          </a:prstGeom>
          <a:solidFill>
            <a:srgbClr val="C6F13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51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Ready for Leadership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report includes detailed breakdowns, supporting charts, and expanded recommendations across all five priority areas — ready to hand to Adidas leadership.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4663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Kabiru Oladiti</cp:lastModifiedBy>
  <cp:revision>2</cp:revision>
  <dcterms:created xsi:type="dcterms:W3CDTF">2026-09-03T11:59:33Z</dcterms:created>
  <dcterms:modified xsi:type="dcterms:W3CDTF">2026-09-03T12:01:02Z</dcterms:modified>
</cp:coreProperties>
</file>