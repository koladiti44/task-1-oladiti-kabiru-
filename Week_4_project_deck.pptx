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ppt/charts/chart4.xml" ContentType="application/vnd.openxmlformats-officedocument.drawingml.chart+xml"/>
  <Override PartName="/ppt/notesSlides/notesSlide7.xml" ContentType="application/vnd.openxmlformats-officedocument.presentationml.notes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theme" Target="theme/theme1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viewProps" Target="viewProp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presProps" Target="presProps.xml" /><Relationship Id="rId5" Type="http://schemas.openxmlformats.org/officeDocument/2006/relationships/slide" Target="slides/slide4.xml" /><Relationship Id="rId10" Type="http://schemas.openxmlformats.org/officeDocument/2006/relationships/notesMaster" Target="notesMasters/notesMaster1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tableStyles" Target="tableStyles.xml" 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 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 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 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 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 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 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ln w="38100" cap="flat">
              <a:solidFill>
                <a:srgbClr val="14213D"/>
              </a:solidFill>
              <a:prstDash val="solid"/>
              <a:round/>
            </a:ln>
            <a:effectLst/>
          </c:spPr>
          <c:marker>
            <c:symbol val="circle"/>
            <c:size val="8"/>
            <c:spPr>
              <a:solidFill>
                <a:srgbClr val="14213D"/>
              </a:solidFill>
              <a:ln w="9525" cap="flat">
                <a:solidFill>
                  <a:srgbClr val="14213D"/>
                </a:solidFill>
                <a:prstDash val="solid"/>
                <a:round/>
              </a:ln>
              <a:effectLst/>
            </c:spPr>
          </c:marker>
          <c:dLbls>
            <c:numFmt formatCode="\$#,##0,&quot;K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F2937"/>
                    </a:solidFill>
                    <a:latin typeface="Arial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23 Q1</c:v>
                </c:pt>
                <c:pt idx="1">
                  <c:v>23 Q2</c:v>
                </c:pt>
                <c:pt idx="2">
                  <c:v>23 Q3</c:v>
                </c:pt>
                <c:pt idx="3">
                  <c:v>23 Q4</c:v>
                </c:pt>
                <c:pt idx="4">
                  <c:v>24 Q1</c:v>
                </c:pt>
                <c:pt idx="5">
                  <c:v>24 Q2</c:v>
                </c:pt>
                <c:pt idx="6">
                  <c:v>24 Q3</c:v>
                </c:pt>
                <c:pt idx="7">
                  <c:v>24 Q4</c:v>
                </c:pt>
                <c:pt idx="8">
                  <c:v>25 Q1</c:v>
                </c:pt>
                <c:pt idx="9">
                  <c:v>25 Q2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145413</c:v>
                </c:pt>
                <c:pt idx="1">
                  <c:v>141089</c:v>
                </c:pt>
                <c:pt idx="2">
                  <c:v>126699</c:v>
                </c:pt>
                <c:pt idx="3">
                  <c:v>139442</c:v>
                </c:pt>
                <c:pt idx="4">
                  <c:v>111469</c:v>
                </c:pt>
                <c:pt idx="5">
                  <c:v>145591</c:v>
                </c:pt>
                <c:pt idx="6">
                  <c:v>114750</c:v>
                </c:pt>
                <c:pt idx="7">
                  <c:v>108426</c:v>
                </c:pt>
                <c:pt idx="8">
                  <c:v>103618</c:v>
                </c:pt>
                <c:pt idx="9">
                  <c:v>128265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970-8E48-81A9-884E1881665B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8000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\$#,##0,&quot;K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07A3F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E9A66F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9CA3AF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3"/>
            <c:bubble3D val="0"/>
            <c:spPr>
              <a:solidFill>
                <a:srgbClr val="14213D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4"/>
            <c:bubble3D val="0"/>
            <c:spPr>
              <a:solidFill>
                <a:srgbClr val="2F9E73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Cancelled</c:v>
                </c:pt>
                <c:pt idx="1">
                  <c:v>Returned</c:v>
                </c:pt>
                <c:pt idx="2">
                  <c:v>Pending</c:v>
                </c:pt>
                <c:pt idx="3">
                  <c:v>Shipped</c:v>
                </c:pt>
                <c:pt idx="4">
                  <c:v>Delivered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250</c:v>
                </c:pt>
                <c:pt idx="1">
                  <c:v>247</c:v>
                </c:pt>
                <c:pt idx="2">
                  <c:v>237</c:v>
                </c:pt>
                <c:pt idx="3">
                  <c:v>235</c:v>
                </c:pt>
                <c:pt idx="4">
                  <c:v>231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78D-2144-811F-6A0ECCFED6C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1F2937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4213D"/>
            </a:solidFill>
            <a:effectLst/>
          </c:spPr>
          <c:invertIfNegative val="0"/>
          <c:dPt>
            <c:idx val="0"/>
            <c:invertIfNegative val="0"/>
            <c:bubble3D val="0"/>
          </c:dPt>
          <c:dPt>
            <c:idx val="1"/>
            <c:invertIfNegative val="0"/>
            <c:bubble3D val="0"/>
          </c:dPt>
          <c:dPt>
            <c:idx val="2"/>
            <c:invertIfNegative val="0"/>
            <c:bubble3D val="0"/>
          </c:dPt>
          <c:dPt>
            <c:idx val="3"/>
            <c:invertIfNegative val="0"/>
            <c:bubble3D val="0"/>
          </c:dPt>
          <c:dPt>
            <c:idx val="4"/>
            <c:invertIfNegative val="0"/>
            <c:bubble3D val="0"/>
          </c:dPt>
          <c:dPt>
            <c:idx val="5"/>
            <c:invertIfNegative val="0"/>
            <c:bubble3D val="0"/>
          </c:dPt>
          <c:dPt>
            <c:idx val="6"/>
            <c:invertIfNegative val="0"/>
            <c:bubble3D val="0"/>
            <c:spPr>
              <a:solidFill>
                <a:srgbClr val="E07A3F"/>
              </a:solidFill>
              <a:effectLst/>
            </c:spPr>
          </c:dPt>
          <c:dLbls>
            <c:numFmt formatCode="\$#,##0,&quot;K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F2937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Chair</c:v>
                </c:pt>
                <c:pt idx="1">
                  <c:v>Printer</c:v>
                </c:pt>
                <c:pt idx="2">
                  <c:v>Laptop</c:v>
                </c:pt>
                <c:pt idx="3">
                  <c:v>Tablet</c:v>
                </c:pt>
                <c:pt idx="4">
                  <c:v>Monitor</c:v>
                </c:pt>
                <c:pt idx="5">
                  <c:v>Desk</c:v>
                </c:pt>
                <c:pt idx="6">
                  <c:v>Phone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195620</c:v>
                </c:pt>
                <c:pt idx="1">
                  <c:v>195613</c:v>
                </c:pt>
                <c:pt idx="2">
                  <c:v>192127</c:v>
                </c:pt>
                <c:pt idx="3">
                  <c:v>186569</c:v>
                </c:pt>
                <c:pt idx="4">
                  <c:v>175651</c:v>
                </c:pt>
                <c:pt idx="5">
                  <c:v>167460</c:v>
                </c:pt>
                <c:pt idx="6">
                  <c:v>151722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22A-5A40-9A1A-AA6740ACE4A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t"/>
        <c:numFmt formatCode="\$#,##0,&quot;K&quot;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9CA3AF"/>
            </a:solidFill>
            <a:effectLst/>
          </c:spPr>
          <c:invertIfNegative val="0"/>
          <c:dPt>
            <c:idx val="0"/>
            <c:invertIfNegative val="0"/>
            <c:bubble3D val="0"/>
          </c:dPt>
          <c:dPt>
            <c:idx val="1"/>
            <c:invertIfNegative val="0"/>
            <c:bubble3D val="0"/>
          </c:dPt>
          <c:dPt>
            <c:idx val="2"/>
            <c:invertIfNegative val="0"/>
            <c:bubble3D val="0"/>
          </c:dPt>
          <c:dPt>
            <c:idx val="3"/>
            <c:invertIfNegative val="0"/>
            <c:bubble3D val="0"/>
            <c:spPr>
              <a:solidFill>
                <a:srgbClr val="2F9E73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F9E73"/>
              </a:solidFill>
              <a:effectLst/>
            </c:spPr>
          </c:dPt>
          <c:dLbls>
            <c:numFmt formatCode="\$#,##0,&quot;K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F2937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1 unit</c:v>
                </c:pt>
                <c:pt idx="1">
                  <c:v>2 units</c:v>
                </c:pt>
                <c:pt idx="2">
                  <c:v>3 units</c:v>
                </c:pt>
                <c:pt idx="3">
                  <c:v>4 units</c:v>
                </c:pt>
                <c:pt idx="4">
                  <c:v>5 units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89728</c:v>
                </c:pt>
                <c:pt idx="1">
                  <c:v>165730</c:v>
                </c:pt>
                <c:pt idx="2">
                  <c:v>261276</c:v>
                </c:pt>
                <c:pt idx="3">
                  <c:v>368091</c:v>
                </c:pt>
                <c:pt idx="4">
                  <c:v>379937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9F0-AF48-AB59-5DAB550D894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\$#,##0,&quot;K&quot;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2F9E73"/>
            </a:solidFill>
            <a:effectLst/>
          </c:spPr>
          <c:invertIfNegative val="0"/>
          <c:dPt>
            <c:idx val="0"/>
            <c:invertIfNegative val="0"/>
            <c:bubble3D val="0"/>
          </c:dPt>
          <c:dPt>
            <c:idx val="1"/>
            <c:invertIfNegative val="0"/>
            <c:bubble3D val="0"/>
            <c:spPr>
              <a:solidFill>
                <a:srgbClr val="14213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4213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4213D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07A3F"/>
              </a:solidFill>
              <a:effectLst/>
            </c:spPr>
          </c:dPt>
          <c:dLbls>
            <c:numFmt formatCode="\$#,##0,&quot;K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F2937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Instagram</c:v>
                </c:pt>
                <c:pt idx="1">
                  <c:v>Email</c:v>
                </c:pt>
                <c:pt idx="2">
                  <c:v>Google</c:v>
                </c:pt>
                <c:pt idx="3">
                  <c:v>Facebook</c:v>
                </c:pt>
                <c:pt idx="4">
                  <c:v>Referral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275285</c:v>
                </c:pt>
                <c:pt idx="1">
                  <c:v>261809</c:v>
                </c:pt>
                <c:pt idx="2">
                  <c:v>250441</c:v>
                </c:pt>
                <c:pt idx="3">
                  <c:v>250411</c:v>
                </c:pt>
                <c:pt idx="4">
                  <c:v>226816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DB2-8742-BD17-24E45086D2E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\$#,##0,&quot;K&quot;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AOV</c:v>
                </c:pt>
              </c:strCache>
            </c:strRef>
          </c:tx>
          <c:spPr>
            <a:solidFill>
              <a:srgbClr val="2F9E73"/>
            </a:solidFill>
            <a:effectLst/>
          </c:spPr>
          <c:invertIfNegative val="0"/>
          <c:dPt>
            <c:idx val="0"/>
            <c:invertIfNegative val="0"/>
            <c:bubble3D val="0"/>
          </c:dPt>
          <c:dPt>
            <c:idx val="1"/>
            <c:invertIfNegative val="0"/>
            <c:bubble3D val="0"/>
            <c:spPr>
              <a:solidFill>
                <a:srgbClr val="14213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4213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4213D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4213D"/>
              </a:solidFill>
              <a:effectLst/>
            </c:spPr>
          </c:dPt>
          <c:dLbls>
            <c:numFmt formatCode="\$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F2937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Credit Card</c:v>
                </c:pt>
                <c:pt idx="1">
                  <c:v>Gift Card</c:v>
                </c:pt>
                <c:pt idx="2">
                  <c:v>Cash</c:v>
                </c:pt>
                <c:pt idx="3">
                  <c:v>Online</c:v>
                </c:pt>
                <c:pt idx="4">
                  <c:v>Debit Card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1128</c:v>
                </c:pt>
                <c:pt idx="1">
                  <c:v>1071</c:v>
                </c:pt>
                <c:pt idx="2">
                  <c:v>1056</c:v>
                </c:pt>
                <c:pt idx="3">
                  <c:v>1017</c:v>
                </c:pt>
                <c:pt idx="4">
                  <c:v>1002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586-D04B-A72D-5A61617900F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800"/>
        </c:scaling>
        <c:delete val="1"/>
        <c:axPos val="l"/>
        <c:numFmt formatCode="\$#,##0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5FC0DC-7343-8946-8E10-9AF11D490BD6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51FAB2-C9BE-7740-8C1D-92883714CE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3383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 /><Relationship Id="rId1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.xml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 /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1.xml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1.xml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1.xml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 /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1.xml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 /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1.xml" /><Relationship Id="rId4" Type="http://schemas.openxmlformats.org/officeDocument/2006/relationships/chart" Target="../charts/chart6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46304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Performance Insights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6517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1,200 orders · January 2023 – June 2025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2004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0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Project · Data-driven insights from order data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is shrinking, and 41% of orders never complete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554480"/>
            <a:ext cx="1920240" cy="1737360"/>
          </a:xfrm>
          <a:prstGeom prst="roundRect">
            <a:avLst>
              <a:gd name="adj" fmla="val 6316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69164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$1.26M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5146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60320" y="1554480"/>
            <a:ext cx="1920240" cy="1737360"/>
          </a:xfrm>
          <a:prstGeom prst="roundRect">
            <a:avLst>
              <a:gd name="adj" fmla="val 6316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697480" y="169164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$1,054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2697480" y="25146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order value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1554480"/>
            <a:ext cx="1920240" cy="1737360"/>
          </a:xfrm>
          <a:prstGeom prst="roundRect">
            <a:avLst>
              <a:gd name="adj" fmla="val 6316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00600" y="169164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07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−10%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4800600" y="25146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revenue change, each of last 2 years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766560" y="1554480"/>
            <a:ext cx="1920240" cy="1737360"/>
          </a:xfrm>
          <a:prstGeom prst="roundRect">
            <a:avLst>
              <a:gd name="adj" fmla="val 6316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903720" y="169164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07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41%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6903720" y="25146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cancelled or returned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6118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Bigger baskets drive revenue: </a:t>
            </a: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4–5 unit orders are 39% of orders but 59% of revenue.</a:t>
            </a:r>
            <a:endParaRPr lang="en-US" sz="15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Coupons do not lift order value; </a:t>
            </a: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is the strongest channel; Phone is the weakest product.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has declined about 10% a year</a:t>
            </a:r>
            <a:endParaRPr lang="en-US" sz="26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1371600"/>
          <a:ext cx="530352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1"/>
          <p:cNvSpPr/>
          <p:nvPr/>
        </p:nvSpPr>
        <p:spPr>
          <a:xfrm>
            <a:off x="5943600" y="1371600"/>
            <a:ext cx="2743200" cy="3200400"/>
          </a:xfrm>
          <a:prstGeom prst="roundRect">
            <a:avLst>
              <a:gd name="adj" fmla="val 4000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172200" y="15544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E07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−10%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6172200" y="2423160"/>
            <a:ext cx="2286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Like-for-like H1 revenue fell from $287K (2023) to $257K (2024) to $232K (2025).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2025 shows a partial recovery.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is used because 2025 has only six months of data.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Only 19% of orders are delivered; 41% are cancelled or returned</a:t>
            </a:r>
            <a:endParaRPr lang="en-US" sz="26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1371600"/>
          <a:ext cx="530352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1"/>
          <p:cNvSpPr/>
          <p:nvPr/>
        </p:nvSpPr>
        <p:spPr>
          <a:xfrm>
            <a:off x="5943600" y="1371600"/>
            <a:ext cx="2743200" cy="3200400"/>
          </a:xfrm>
          <a:prstGeom prst="roundRect">
            <a:avLst>
              <a:gd name="adj" fmla="val 4000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172200" y="15544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E07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$520K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6172200" y="2423160"/>
            <a:ext cx="2286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revenue sits in cancelled or returned orders (41% of total).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has no reason codes, so capturing cancellation and return reasons is the first step to fixing this.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Phone trails the other products by up to 22%</a:t>
            </a:r>
            <a:endParaRPr lang="en-US" sz="26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1371600"/>
          <a:ext cx="530352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1"/>
          <p:cNvSpPr/>
          <p:nvPr/>
        </p:nvSpPr>
        <p:spPr>
          <a:xfrm>
            <a:off x="5943600" y="1371600"/>
            <a:ext cx="2743200" cy="3200400"/>
          </a:xfrm>
          <a:prstGeom prst="roundRect">
            <a:avLst>
              <a:gd name="adj" fmla="val 4000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172200" y="15544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E07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22%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6172200" y="2423160"/>
            <a:ext cx="2286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revenue for Phone ($152K) than Chair ($196K), the top product.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products sit within a fairly tight $167K–$196K band, so mix is broadly balanced.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Orders of 4–5 units generate 59% of revenue</a:t>
            </a:r>
            <a:endParaRPr lang="en-US" sz="26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1371600"/>
          <a:ext cx="530352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1"/>
          <p:cNvSpPr/>
          <p:nvPr/>
        </p:nvSpPr>
        <p:spPr>
          <a:xfrm>
            <a:off x="5943600" y="1371600"/>
            <a:ext cx="2743200" cy="3200400"/>
          </a:xfrm>
          <a:prstGeom prst="roundRect">
            <a:avLst>
              <a:gd name="adj" fmla="val 4000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172200" y="15544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E07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59%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6172200" y="2423160"/>
            <a:ext cx="2286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revenue comes from the 39% of orders with 4–5 units.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Bundling and multi-unit offers are the biggest revenue lever in this data.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Instagram leads channels; coupons add no order value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referral source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1554480"/>
          <a:ext cx="411480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754880" y="12801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order value by payment method</a:t>
            </a:r>
            <a:endParaRPr lang="en-US" sz="1300" dirty="0"/>
          </a:p>
        </p:txBody>
      </p:sp>
      <p:graphicFrame>
        <p:nvGraphicFramePr>
          <p:cNvPr id="6" name="Chart 1"/>
          <p:cNvGraphicFramePr/>
          <p:nvPr/>
        </p:nvGraphicFramePr>
        <p:xfrm>
          <a:off x="4663440" y="1554480"/>
          <a:ext cx="411480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Text 3"/>
          <p:cNvSpPr txBox="1"/>
          <p:nvPr/>
        </p:nvSpPr>
        <p:spPr>
          <a:xfrm>
            <a:off x="457200" y="39776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brings in $275K (22% of revenue); Referral is lowest at $227K. Credit Card orders average $1,128, 13% above Debit. Average order value is about $1,043 with no coupon and $1,036–$1,070 with one, so discounts show no lift.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to do next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48640" cy="548640"/>
          </a:xfrm>
          <a:prstGeom prst="ellipse">
            <a:avLst/>
          </a:prstGeom>
          <a:solidFill>
            <a:srgbClr val="E07A3F"/>
          </a:solidFill>
          <a:ln w="12700">
            <a:solidFill>
              <a:srgbClr val="E07A3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463040" y="1325880"/>
            <a:ext cx="704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cancellations and returns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reason codes; target the 41% loss of orders.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2240280"/>
            <a:ext cx="548640" cy="548640"/>
          </a:xfrm>
          <a:prstGeom prst="ellipse">
            <a:avLst/>
          </a:prstGeom>
          <a:solidFill>
            <a:srgbClr val="E07A3F"/>
          </a:solidFill>
          <a:ln w="12700">
            <a:solidFill>
              <a:srgbClr val="E07A3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194560"/>
            <a:ext cx="704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multi-unit orders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Bundles and quantity offers for the 4–5 unit sweet spot.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0080" y="3108960"/>
            <a:ext cx="548640" cy="548640"/>
          </a:xfrm>
          <a:prstGeom prst="ellipse">
            <a:avLst/>
          </a:prstGeom>
          <a:solidFill>
            <a:srgbClr val="E07A3F"/>
          </a:solidFill>
          <a:ln w="12700">
            <a:solidFill>
              <a:srgbClr val="E07A3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3108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3063240"/>
            <a:ext cx="704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the coupon strategy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Coupons show no order-value lift; run controlled tests.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40080" y="3977640"/>
            <a:ext cx="548640" cy="548640"/>
          </a:xfrm>
          <a:prstGeom prst="ellipse">
            <a:avLst/>
          </a:prstGeom>
          <a:solidFill>
            <a:srgbClr val="E07A3F"/>
          </a:solidFill>
          <a:ln w="12700">
            <a:solidFill>
              <a:srgbClr val="E07A3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3977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463040" y="3931920"/>
            <a:ext cx="704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Phone, back Instagram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why Phone lags; keep investing in the top channel.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Kabiru Oladiti</cp:lastModifiedBy>
  <cp:revision>2</cp:revision>
  <dcterms:created xsi:type="dcterms:W3CDTF">2026-09-28T14:57:41Z</dcterms:created>
  <dcterms:modified xsi:type="dcterms:W3CDTF">2026-09-28T14:59:30Z</dcterms:modified>
</cp:coreProperties>
</file>